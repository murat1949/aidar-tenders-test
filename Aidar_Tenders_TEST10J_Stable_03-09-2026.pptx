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B8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789920" y="653796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B8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03.09.2026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66928"/>
            <a:ext cx="11201400" cy="5303520"/>
          </a:xfrm>
          <a:prstGeom prst="roundRect">
            <a:avLst>
              <a:gd name="adj" fmla="val 3103"/>
            </a:avLst>
          </a:prstGeom>
          <a:solidFill>
            <a:srgbClr val="285BE8"/>
          </a:solidFill>
          <a:ln w="12700">
            <a:solidFill>
              <a:srgbClr val="285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566928"/>
            <a:ext cx="4251960" cy="5303520"/>
          </a:xfrm>
          <a:prstGeom prst="roundRect">
            <a:avLst>
              <a:gd name="adj" fmla="val 3871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9601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Aidar Tenders TEST10J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9536" y="15179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2FF"/>
                </a:solidFill>
              </a:rPr>
              <a:t>Samruk: lot card fallback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3042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Контрольная точка v6.7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761488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Если отдельного PDF с техспецификацией нет, система берёт данные прямо из карточки лота Samruk и сохраняет их в Supabase.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413308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42016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5132"/>
                </a:solidFill>
              </a:rPr>
              <a:t>Проверено: 11 из 11 лотов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41330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201668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</a:rPr>
              <a:t>Ошибок: 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4133088"/>
            <a:ext cx="2084832" cy="292608"/>
          </a:xfrm>
          <a:prstGeom prst="roundRect">
            <a:avLst>
              <a:gd name="adj" fmla="val 18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4201668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12E81"/>
                </a:solidFill>
              </a:rPr>
              <a:t>GitHub: TEST10J Stable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389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03.09.2026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02752" y="48646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9FE"/>
                </a:solidFill>
              </a:rPr>
              <a:t>ProcureVision KZ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найдено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В Samruk встретился второй тип карточек: данные есть, но отдельной PDF-техспеки нет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82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E"/>
                </a:solidFill>
              </a:rPr>
              <a:t>Проблема до TEST10J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21579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Лоты 4524061 и 4524060 открывались вручную нормально.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633472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4712" y="26426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Программа ошибочно писала: «Popup лота не открылся».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118104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" y="31272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Документы были на уровне закупки №1251017.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3602736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" y="3611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Отдельной заполненной техспеки в PDF/DOCX не было.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8EF"/>
          </a:solidFill>
          <a:ln w="12700">
            <a:solidFill>
              <a:srgbClr val="BFE8CD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82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E"/>
                </a:solidFill>
              </a:rPr>
              <a:t>Вывод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1968" y="2148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Нужно не падать с ошибкой, а брать технические характеристики прямо из карточки лота.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3886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A2E"/>
                </a:solidFill>
              </a:rPr>
              <a:t>Это и стало логикой TEST10J: lot card fallback.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TEST10J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Одна цепочка обработки для обычных PDF и для карточек без отдельного PDF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Samruk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выдача лотов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167128" y="2313432"/>
            <a:ext cx="256032" cy="493776"/>
          </a:xfrm>
          <a:prstGeom prst="chevron">
            <a:avLst/>
          </a:prstGeom>
          <a:solidFill>
            <a:srgbClr val="D7E3F7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288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004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Popup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7004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карточка лота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041648" y="2313432"/>
            <a:ext cx="256032" cy="493776"/>
          </a:xfrm>
          <a:prstGeom prst="chevron">
            <a:avLst/>
          </a:prstGeom>
          <a:solidFill>
            <a:srgbClr val="D7E3F7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456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Документы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4456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поиск PDF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16168" y="2313432"/>
            <a:ext cx="256032" cy="493776"/>
          </a:xfrm>
          <a:prstGeom prst="chevron">
            <a:avLst/>
          </a:prstGeom>
          <a:solidFill>
            <a:srgbClr val="D7E3F7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7E6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908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Fallback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1908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данные из карточки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90688" y="2313432"/>
            <a:ext cx="256032" cy="493776"/>
          </a:xfrm>
          <a:prstGeom prst="chevron">
            <a:avLst/>
          </a:prstGeom>
          <a:solidFill>
            <a:srgbClr val="D7E3F7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9360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Supabase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9360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raw.techspec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665208" y="2313432"/>
            <a:ext cx="256032" cy="493776"/>
          </a:xfrm>
          <a:prstGeom prst="chevron">
            <a:avLst/>
          </a:prstGeom>
          <a:solidFill>
            <a:srgbClr val="D7E3F7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30968" y="1920240"/>
            <a:ext cx="14173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68128" y="2395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1A2E"/>
                </a:solidFill>
              </a:rPr>
              <a:t>Портал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168128" y="2670048"/>
            <a:ext cx="11247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карточка пользователя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051560" y="416052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CFE1FF">
                <a:alpha val="9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8448" y="4407408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A2E"/>
                </a:solidFill>
              </a:rPr>
              <a:t>Ключевой принцип: отсутствие отдельного PDF больше не является ошибкой. Если карточка лота содержит характеристики, они сохраняются как техническая спецификация.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Проверочный сценарий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Фиксируем, на какой выборке была подтверждена новая логика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Поиск Samruk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</a:rPr>
              <a:t>Бумага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Статус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02152" y="1837944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Опубликовано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513832" y="1417320"/>
            <a:ext cx="1554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8424" y="1572768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Лотов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78424" y="1837944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A2E"/>
                </a:solidFill>
              </a:rPr>
              <a:t>11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До TEST10J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79792" y="1837944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9 / 11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491472" y="14173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6064" y="1572768"/>
            <a:ext cx="15453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Проблемные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56064" y="1837944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F4444"/>
                </a:solidFill>
              </a:rPr>
              <a:t>2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58368" y="2971800"/>
            <a:ext cx="10972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461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E"/>
                </a:solidFill>
              </a:rPr>
              <a:t>Проблемные лоты до новой логики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4524061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37560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4524060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2356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Оба лота относятся к закупке №1251017. В документах закупки были «Проект электронный договор», «Приложение УК договору ТПФ.docx», «объявление о закупке», но не отдельная заполненная PDF-техспецификация.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TEST10J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После запуска /update-samruk оба проблемных лота обработаны без ошибок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35608"/>
            <a:ext cx="15453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Всего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700784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A2E"/>
                </a:solidFill>
              </a:rPr>
              <a:t>11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88920" y="128016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1435608"/>
            <a:ext cx="181965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С техспекой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53512" y="1700784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11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193792" y="128016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143560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Без техспеки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58384" y="1700784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0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81544" y="1280160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6136" y="143560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Из карточки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46136" y="1700784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2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0131552" y="12801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6144" y="1435608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Ошибок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96144" y="1700784"/>
            <a:ext cx="108813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0</a:t>
            </a:r>
            <a:endParaRPr lang="en-US" sz="2300" dirty="0"/>
          </a:p>
        </p:txBody>
      </p:sp>
      <p:pic>
        <p:nvPicPr>
          <p:cNvPr id="19" name="Image 0" descr="/mnt/data/9c707453-cd6e-4121-9cf8-d5e7d76f94bc.png">    </p:cNvPr>
          <p:cNvPicPr>
            <a:picLocks noChangeAspect="1"/>
          </p:cNvPicPr>
          <p:nvPr/>
        </p:nvPicPr>
        <p:blipFill>
          <a:blip r:embed="rId1"/>
          <a:srcRect l="7339" r="7339" t="0" b="0"/>
          <a:stretch/>
        </p:blipFill>
        <p:spPr>
          <a:xfrm>
            <a:off x="658368" y="2788920"/>
            <a:ext cx="10881360" cy="2560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" y="55321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Контроль: auto_techspec_from_card = 2, auto_techspec_errors = 0.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после запуска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Диагностика подтвердила: в выборке не осталось лотов без техспецификации</a:t>
            </a:r>
            <a:endParaRPr lang="en-US" sz="1150" dirty="0"/>
          </a:p>
        </p:txBody>
      </p:sp>
      <p:pic>
        <p:nvPicPr>
          <p:cNvPr id="4" name="Image 0" descr="/mnt/data/fde18c80-c072-4df9-a77d-45702cf3afe5.png">    </p:cNvPr>
          <p:cNvPicPr>
            <a:picLocks noChangeAspect="1"/>
          </p:cNvPicPr>
          <p:nvPr/>
        </p:nvPicPr>
        <p:blipFill>
          <a:blip r:embed="rId1"/>
          <a:srcRect l="9204" r="9204" t="0" b="0"/>
          <a:stretch/>
        </p:blipFill>
        <p:spPr>
          <a:xfrm>
            <a:off x="658368" y="1417320"/>
            <a:ext cx="10881360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406908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EAF8EF"/>
          </a:solidFill>
          <a:ln w="12700">
            <a:solidFill>
              <a:srgbClr val="BFE8CD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431596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E"/>
                </a:solidFill>
              </a:rPr>
              <a:t>Итог диагностики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4681728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</a:rPr>
              <a:t>current_rows: 11   |   with_techspec: 11   |   without_techspec: 0   |   not_in_db: 0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 портале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Лот 4524061 открылся в пользовательской карточке с данными из Supabase</a:t>
            </a:r>
            <a:endParaRPr lang="en-US" sz="1150" dirty="0"/>
          </a:p>
        </p:txBody>
      </p:sp>
      <p:pic>
        <p:nvPicPr>
          <p:cNvPr id="4" name="Image 0" descr="/mnt/data/b590cd25-8d4d-4d80-901a-13687b074ff1.png">    </p:cNvPr>
          <p:cNvPicPr>
            <a:picLocks noChangeAspect="1"/>
          </p:cNvPicPr>
          <p:nvPr/>
        </p:nvPicPr>
        <p:blipFill>
          <a:blip r:embed="rId1"/>
          <a:srcRect l="0" r="0" t="6541" b="6541"/>
          <a:stretch/>
        </p:blipFill>
        <p:spPr>
          <a:xfrm>
            <a:off x="640080" y="1280160"/>
            <a:ext cx="46634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280160"/>
            <a:ext cx="58064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9E3F0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16752" y="1627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E"/>
                </a:solidFill>
              </a:rPr>
              <a:t>Что подтверждено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16752" y="2176272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45352" y="21854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В карточке появился блок «Техспецификация — данные из Supabase».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16752" y="2697480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45352" y="27066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Данные взяты из карточки лота, а не из отдельного PDF.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16752" y="3218688"/>
            <a:ext cx="1645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45352" y="3227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Сохранились: количество, место поставки, срок, оплата, назначение и технические требования.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16752" y="4160520"/>
            <a:ext cx="49377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16752" y="446227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1A2E"/>
                </a:solidFill>
              </a:rPr>
              <a:t>Лот: 4524061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21A2E"/>
                </a:solidFill>
              </a:rPr>
              <a:t>Заказчик: АО «Вагонсервис»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21A2E"/>
                </a:solidFill>
              </a:rPr>
              <a:t>Сумма: 4 900 ₸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GitHub-контрольная точка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TEST10J сохранён в ветке test10g-stable</a:t>
            </a:r>
            <a:endParaRPr lang="en-US" sz="1150" dirty="0"/>
          </a:p>
        </p:txBody>
      </p:sp>
      <p:pic>
        <p:nvPicPr>
          <p:cNvPr id="4" name="Image 0" descr="/mnt/data/10259469-0fd7-4b0e-8edc-1f505ee630c8.png">    </p:cNvPr>
          <p:cNvPicPr>
            <a:picLocks noChangeAspect="1"/>
          </p:cNvPicPr>
          <p:nvPr/>
        </p:nvPicPr>
        <p:blipFill>
          <a:blip r:embed="rId1"/>
          <a:srcRect l="13514" r="13514" t="0" b="0"/>
          <a:stretch/>
        </p:blipFill>
        <p:spPr>
          <a:xfrm>
            <a:off x="658368" y="1280160"/>
            <a:ext cx="65836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28016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1EAFF"/>
          </a:solidFill>
          <a:ln w="12700">
            <a:solidFill>
              <a:srgbClr val="DCCBFF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627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E"/>
                </a:solidFill>
              </a:rPr>
              <a:t>Зафиксировано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2212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Commit: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18120" y="24871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1A2E"/>
                </a:solidFill>
              </a:rPr>
              <a:t>TEST10J Stable - Samruk lot card fallback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32186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Файлы: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18120" y="349300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1A2E"/>
                </a:solidFill>
              </a:rPr>
              <a:t>procurevision_bridge_TEST10J_LOTCARDFALLBACK.py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21A2E"/>
                </a:solidFill>
              </a:rPr>
              <a:t>RUN_BRIDGE_TEST10J_LOTCARDFALLBACK.bat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818120" y="459028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Статус: стабильная точка для дальнейшей разработки.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4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ProcureVision 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TEST10J Stable</dc:title>
  <dc:subject>TEST10J stable checkpoint</dc:subject>
  <dc:creator>ProcureVision KZ</dc:creator>
  <cp:lastModifiedBy>ProcureVision KZ</cp:lastModifiedBy>
  <cp:revision>1</cp:revision>
  <dcterms:created xsi:type="dcterms:W3CDTF">2026-09-03T14:34:35Z</dcterms:created>
  <dcterms:modified xsi:type="dcterms:W3CDTF">2026-09-03T14:34:35Z</dcterms:modified>
</cp:coreProperties>
</file>